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32" r:id="rId1"/>
  </p:sldMasterIdLst>
  <p:sldIdLst>
    <p:sldId id="256" r:id="rId2"/>
    <p:sldId id="257" r:id="rId3"/>
    <p:sldId id="258" r:id="rId4"/>
    <p:sldId id="259" r:id="rId5"/>
    <p:sldId id="263" r:id="rId6"/>
    <p:sldId id="260" r:id="rId7"/>
    <p:sldId id="264" r:id="rId8"/>
    <p:sldId id="265" r:id="rId9"/>
    <p:sldId id="261" r:id="rId10"/>
    <p:sldId id="262" r:id="rId1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4DF12BB-6EAA-4CA5-812A-DC0B6885D5A2}" v="1779" dt="2026-04-24T18:54:09.7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07041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9512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68844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88211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4818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69889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70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167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461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0882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299670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73964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933582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63162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10842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9807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  <a:solidFill>
            <a:schemeClr val="accent1">
              <a:lumMod val="75000"/>
              <a:alpha val="40000"/>
            </a:schemeClr>
          </a:solidFill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30"/>
            <a:ext cx="2356674" cy="6853283"/>
            <a:chOff x="6627813" y="195452"/>
            <a:chExt cx="1952625" cy="5678299"/>
          </a:xfrm>
          <a:solidFill>
            <a:schemeClr val="accent1"/>
          </a:solidFill>
        </p:grpSpPr>
        <p:sp>
          <p:nvSpPr>
            <p:cNvPr id="11" name="Freeform 27"/>
            <p:cNvSpPr/>
            <p:nvPr/>
          </p:nvSpPr>
          <p:spPr bwMode="auto">
            <a:xfrm>
              <a:off x="6627813" y="195452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grpFill/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73401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33" r:id="rId1"/>
    <p:sldLayoutId id="2147483834" r:id="rId2"/>
    <p:sldLayoutId id="2147483835" r:id="rId3"/>
    <p:sldLayoutId id="2147483836" r:id="rId4"/>
    <p:sldLayoutId id="2147483837" r:id="rId5"/>
    <p:sldLayoutId id="2147483838" r:id="rId6"/>
    <p:sldLayoutId id="2147483839" r:id="rId7"/>
    <p:sldLayoutId id="2147483840" r:id="rId8"/>
    <p:sldLayoutId id="2147483841" r:id="rId9"/>
    <p:sldLayoutId id="2147483842" r:id="rId10"/>
    <p:sldLayoutId id="2147483843" r:id="rId11"/>
    <p:sldLayoutId id="2147483844" r:id="rId12"/>
    <p:sldLayoutId id="2147483845" r:id="rId13"/>
    <p:sldLayoutId id="2147483846" r:id="rId14"/>
    <p:sldLayoutId id="2147483847" r:id="rId15"/>
    <p:sldLayoutId id="2147483848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/>
              <a:t>Apresentação</a:t>
            </a:r>
            <a:r>
              <a:rPr lang="de-DE" dirty="0"/>
              <a:t> do GIT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 err="1"/>
              <a:t>Características</a:t>
            </a:r>
            <a:r>
              <a:rPr lang="de-DE" dirty="0"/>
              <a:t>, </a:t>
            </a:r>
            <a:r>
              <a:rPr lang="de-DE" dirty="0" err="1"/>
              <a:t>Exemplo</a:t>
            </a:r>
            <a:r>
              <a:rPr lang="de-DE" dirty="0"/>
              <a:t> de </a:t>
            </a:r>
            <a:r>
              <a:rPr lang="de-DE" dirty="0" err="1"/>
              <a:t>uso</a:t>
            </a:r>
            <a:r>
              <a:rPr lang="de-DE" dirty="0"/>
              <a:t> e </a:t>
            </a:r>
            <a:r>
              <a:rPr lang="de-DE" dirty="0" err="1"/>
              <a:t>Funções</a:t>
            </a:r>
          </a:p>
        </p:txBody>
      </p:sp>
    </p:spTree>
    <p:extLst>
      <p:ext uri="{BB962C8B-B14F-4D97-AF65-F5344CB8AC3E}">
        <p14:creationId xmlns:p14="http://schemas.microsoft.com/office/powerpoint/2010/main" val="2210866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90525A-DBA7-D489-5952-609F3AFF5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Vamos Pensar</a:t>
            </a:r>
          </a:p>
        </p:txBody>
      </p:sp>
      <p:pic>
        <p:nvPicPr>
          <p:cNvPr id="6" name="Espaço Reservado para Conteúdo 5" descr="Bolha de pensamento com preenchimento sólido">
            <a:extLst>
              <a:ext uri="{FF2B5EF4-FFF2-40B4-BE49-F238E27FC236}">
                <a16:creationId xmlns:a16="http://schemas.microsoft.com/office/drawing/2014/main" id="{A55F81E9-7AD0-8596-6473-5AAE108F47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66612" y="-156595"/>
            <a:ext cx="1887557" cy="1566232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A492A17A-2860-DABF-17E3-C7BF322EF1A1}"/>
              </a:ext>
            </a:extLst>
          </p:cNvPr>
          <p:cNvSpPr txBox="1"/>
          <p:nvPr/>
        </p:nvSpPr>
        <p:spPr>
          <a:xfrm>
            <a:off x="1962410" y="2066794"/>
            <a:ext cx="8538575" cy="31393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/>
              <a:t>O que é o GIT?</a:t>
            </a:r>
          </a:p>
          <a:p>
            <a:endParaRPr lang="pt-BR" dirty="0"/>
          </a:p>
          <a:p>
            <a:r>
              <a:rPr lang="pt-BR"/>
              <a:t>Para qual aplicação essa ferramenta foi desenvolvida?</a:t>
            </a:r>
          </a:p>
          <a:p>
            <a:endParaRPr lang="pt-BR" dirty="0"/>
          </a:p>
          <a:p>
            <a:r>
              <a:rPr lang="pt-BR"/>
              <a:t>Qual suas vantagens e desvantagens?</a:t>
            </a:r>
          </a:p>
          <a:p>
            <a:endParaRPr lang="pt-BR" dirty="0"/>
          </a:p>
          <a:p>
            <a:r>
              <a:rPr lang="pt-BR" dirty="0"/>
              <a:t>E o </a:t>
            </a:r>
            <a:r>
              <a:rPr lang="pt-BR"/>
              <a:t>GITHUB? Qual a sua diferença?</a:t>
            </a:r>
            <a:endParaRPr lang="pt-BR" dirty="0"/>
          </a:p>
          <a:p>
            <a:endParaRPr lang="pt-BR" dirty="0"/>
          </a:p>
          <a:p>
            <a:r>
              <a:rPr lang="pt-BR" dirty="0"/>
              <a:t>Como ele pode me auxiliar em problemas do </a:t>
            </a:r>
            <a:r>
              <a:rPr lang="pt-BR"/>
              <a:t>dia a dia</a:t>
            </a:r>
            <a:r>
              <a:rPr lang="pt-BR" dirty="0"/>
              <a:t>?</a:t>
            </a:r>
          </a:p>
          <a:p>
            <a:endParaRPr lang="pt-BR" dirty="0"/>
          </a:p>
          <a:p>
            <a:endParaRPr lang="pt-BR" dirty="0"/>
          </a:p>
        </p:txBody>
      </p:sp>
      <p:pic>
        <p:nvPicPr>
          <p:cNvPr id="8" name="Gráfico 7" descr="Ponto de interrogação com preenchimento sólido">
            <a:extLst>
              <a:ext uri="{FF2B5EF4-FFF2-40B4-BE49-F238E27FC236}">
                <a16:creationId xmlns:a16="http://schemas.microsoft.com/office/drawing/2014/main" id="{61D76B00-BDF3-5073-975E-EDF2CA68C7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-1560000">
            <a:off x="6327354" y="153319"/>
            <a:ext cx="482907" cy="482907"/>
          </a:xfrm>
          <a:prstGeom prst="rect">
            <a:avLst/>
          </a:prstGeom>
        </p:spPr>
      </p:pic>
      <p:pic>
        <p:nvPicPr>
          <p:cNvPr id="9" name="Gráfico 8" descr="Ponto de interrogação com preenchimento sólido">
            <a:extLst>
              <a:ext uri="{FF2B5EF4-FFF2-40B4-BE49-F238E27FC236}">
                <a16:creationId xmlns:a16="http://schemas.microsoft.com/office/drawing/2014/main" id="{CBE13776-4086-48D4-8B5B-18DFD40384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66052" y="144138"/>
            <a:ext cx="482907" cy="482907"/>
          </a:xfrm>
          <a:prstGeom prst="rect">
            <a:avLst/>
          </a:prstGeom>
        </p:spPr>
      </p:pic>
      <p:pic>
        <p:nvPicPr>
          <p:cNvPr id="10" name="Gráfico 9" descr="Ponto de interrogação com preenchimento sólido">
            <a:extLst>
              <a:ext uri="{FF2B5EF4-FFF2-40B4-BE49-F238E27FC236}">
                <a16:creationId xmlns:a16="http://schemas.microsoft.com/office/drawing/2014/main" id="{547845BF-8218-196C-67D1-D024480A48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00000">
            <a:off x="6804751" y="153319"/>
            <a:ext cx="482907" cy="48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77985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029A89-48FF-E6ED-E0DC-583FEE4BE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O que é o GIT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560150-C333-D688-DB75-44043867B3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dirty="0">
                <a:ea typeface="+mn-lt"/>
                <a:cs typeface="+mn-lt"/>
              </a:rPr>
              <a:t>-O </a:t>
            </a:r>
            <a:r>
              <a:rPr lang="pt-BR" i="1" dirty="0" err="1">
                <a:ea typeface="+mn-lt"/>
                <a:cs typeface="+mn-lt"/>
              </a:rPr>
              <a:t>Git</a:t>
            </a:r>
            <a:r>
              <a:rPr lang="pt-BR" i="1" dirty="0">
                <a:ea typeface="+mn-lt"/>
                <a:cs typeface="+mn-lt"/>
              </a:rPr>
              <a:t> </a:t>
            </a:r>
            <a:r>
              <a:rPr lang="pt-BR" dirty="0">
                <a:ea typeface="+mn-lt"/>
                <a:cs typeface="+mn-lt"/>
              </a:rPr>
              <a:t>é um sistema de controle de versão de ampla distribuição. Sendo muito utilizado no desenvolvimento de </a:t>
            </a:r>
            <a:r>
              <a:rPr lang="pt-BR" i="1" dirty="0">
                <a:ea typeface="+mn-lt"/>
                <a:cs typeface="+mn-lt"/>
              </a:rPr>
              <a:t>softwares, especialmente quando se está trabalhando com equipes grandes e há uma necessidade de comunicar e compartilhar os arqui</a:t>
            </a:r>
            <a:r>
              <a:rPr lang="pt-BR" i="1" dirty="0"/>
              <a:t>vos </a:t>
            </a:r>
            <a:r>
              <a:rPr lang="pt-BR" i="1" dirty="0">
                <a:ea typeface="+mn-lt"/>
                <a:cs typeface="+mn-lt"/>
              </a:rPr>
              <a:t>entre os elementos dessa equipe.</a:t>
            </a:r>
            <a:endParaRPr lang="pt-BR" dirty="0"/>
          </a:p>
          <a:p>
            <a:pPr marL="0" indent="0">
              <a:buNone/>
            </a:pPr>
            <a:endParaRPr lang="pt-BR"/>
          </a:p>
          <a:p>
            <a:pPr marL="0" indent="0">
              <a:buNone/>
            </a:pPr>
            <a:r>
              <a:rPr lang="pt-BR" dirty="0"/>
              <a:t>Ele funciona como um repositório de "fotos" que são tiradas dos arquivos no momento que são armazenadas no repositório e essas fotos </a:t>
            </a:r>
            <a:r>
              <a:rPr lang="pt-BR"/>
              <a:t>também podem ser comparadas com a última versão do arquivo para se identificar todas as alterações feitas na </a:t>
            </a:r>
            <a:r>
              <a:rPr lang="pt-BR" err="1"/>
              <a:t>nov</a:t>
            </a:r>
            <a:r>
              <a:rPr lang="pt-BR"/>
              <a:t>a versão.</a:t>
            </a:r>
          </a:p>
          <a:p>
            <a:pPr marL="0" indent="0">
              <a:buNone/>
            </a:pPr>
            <a:endParaRPr lang="pt-BR" i="1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00583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EA9D71-CD0F-AF69-E074-25A1BDAD2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err="1"/>
              <a:t>Propó</a:t>
            </a:r>
            <a:r>
              <a:rPr lang="pt-BR"/>
              <a:t>sito de desenvolvimento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0C6E499-3BB6-5112-2A22-89ECCD837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4101211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pt-BR"/>
              <a:t>Ele surgiu em 2005, criado por Linus Torvalds, para atender às necessidades do desenvolvimento do Linux.</a:t>
            </a:r>
            <a:endParaRPr lang="pt-BR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dirty="0"/>
              <a:t>Quando o desenvolvedor abriu o código para possibilitar que outros usuários o ajudassem no desenvolvimento. Ele se viu necessitando de uma plataforma para gerenciar o enorme </a:t>
            </a:r>
            <a:r>
              <a:rPr lang="pt-BR" err="1"/>
              <a:t>flu</a:t>
            </a:r>
            <a:r>
              <a:rPr lang="pt-BR"/>
              <a:t>xo de versões e atualizações recebidas.</a:t>
            </a:r>
            <a:endParaRPr lang="pt-BR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dirty="0"/>
              <a:t>Apesar de existir ferramentas do tipo naquela época, elas eram pagas, às tornando inviáveis para as centenas e eventualmente milhares de </a:t>
            </a:r>
            <a:r>
              <a:rPr lang="pt-BR"/>
              <a:t>contribuidores no projeto.</a:t>
            </a:r>
            <a:endParaRPr lang="pt-BR" dirty="0"/>
          </a:p>
          <a:p>
            <a:pPr marL="0" indent="0">
              <a:buNone/>
            </a:pPr>
            <a:endParaRPr lang="pt-BR"/>
          </a:p>
          <a:p>
            <a:pPr marL="0" indent="0">
              <a:buNone/>
            </a:pPr>
            <a:r>
              <a:rPr lang="pt-BR" dirty="0"/>
              <a:t>Por isso o GIT foi desenvolvido em paralelo com o sistema operacional que ele estava </a:t>
            </a:r>
            <a:r>
              <a:rPr lang="pt-BR"/>
              <a:t>desenvolvendo para auxiliar em sua produção.</a:t>
            </a: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170926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6E859C-0A29-65CA-8A3C-0DA5852D7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Componentes Importantes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9822322-40D6-2E76-0123-2C30DF9BFC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pt-BR" i="1" dirty="0" err="1"/>
              <a:t>Working</a:t>
            </a:r>
            <a:r>
              <a:rPr lang="pt-BR" i="1" dirty="0"/>
              <a:t> </a:t>
            </a:r>
            <a:r>
              <a:rPr lang="pt-BR" i="1" dirty="0" err="1"/>
              <a:t>Directory</a:t>
            </a:r>
            <a:r>
              <a:rPr lang="pt-BR" i="1" dirty="0"/>
              <a:t> </a:t>
            </a:r>
            <a:r>
              <a:rPr lang="pt-BR" dirty="0"/>
              <a:t>(Diretório de Trabalho):</a:t>
            </a:r>
            <a:r>
              <a:rPr lang="pt-BR" dirty="0">
                <a:ea typeface="+mn-lt"/>
                <a:cs typeface="+mn-lt"/>
              </a:rPr>
              <a:t> É onde você edita os arquivos normalmente no seu computador. Aqui ficam as versões atuais dos arquivos, podendo estar modificadas, mas ainda não registradas no histórico do </a:t>
            </a:r>
            <a:r>
              <a:rPr lang="pt-BR" dirty="0" err="1">
                <a:ea typeface="+mn-lt"/>
                <a:cs typeface="+mn-lt"/>
              </a:rPr>
              <a:t>Git</a:t>
            </a:r>
            <a:r>
              <a:rPr lang="pt-BR" dirty="0">
                <a:ea typeface="+mn-lt"/>
                <a:cs typeface="+mn-lt"/>
              </a:rPr>
              <a:t>.</a:t>
            </a:r>
            <a:endParaRPr lang="pt-BR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i="1" dirty="0" err="1"/>
              <a:t>Staging</a:t>
            </a:r>
            <a:r>
              <a:rPr lang="pt-BR" i="1" dirty="0"/>
              <a:t> Area </a:t>
            </a:r>
            <a:r>
              <a:rPr lang="pt-BR" dirty="0"/>
              <a:t>(Área de Preparação): </a:t>
            </a:r>
            <a:r>
              <a:rPr lang="pt-BR" dirty="0">
                <a:ea typeface="+mn-lt"/>
                <a:cs typeface="+mn-lt"/>
              </a:rPr>
              <a:t>É uma área intermediária onde você escolhe quais alterações irão para o próximo </a:t>
            </a:r>
            <a:r>
              <a:rPr lang="pt-BR" i="1" dirty="0" err="1">
                <a:ea typeface="+mn-lt"/>
                <a:cs typeface="+mn-lt"/>
              </a:rPr>
              <a:t>commit</a:t>
            </a:r>
            <a:r>
              <a:rPr lang="pt-BR" dirty="0">
                <a:ea typeface="+mn-lt"/>
                <a:cs typeface="+mn-lt"/>
              </a:rPr>
              <a:t>. Uma analogia que pode se fazer é com o camarim, que é um local reservado onde os artistas se preparam antes de entrarem no palco.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i="1" dirty="0" err="1"/>
              <a:t>Repository</a:t>
            </a:r>
            <a:r>
              <a:rPr lang="pt-BR" i="1" dirty="0"/>
              <a:t> </a:t>
            </a:r>
            <a:r>
              <a:rPr lang="pt-BR" dirty="0"/>
              <a:t>(Repositório):</a:t>
            </a:r>
            <a:r>
              <a:rPr lang="pt-BR" dirty="0">
                <a:ea typeface="+mn-lt"/>
                <a:cs typeface="+mn-lt"/>
              </a:rPr>
              <a:t>É onde o </a:t>
            </a:r>
            <a:r>
              <a:rPr lang="pt-BR" dirty="0" err="1">
                <a:ea typeface="+mn-lt"/>
                <a:cs typeface="+mn-lt"/>
              </a:rPr>
              <a:t>Git</a:t>
            </a:r>
            <a:r>
              <a:rPr lang="pt-BR" dirty="0">
                <a:ea typeface="+mn-lt"/>
                <a:cs typeface="+mn-lt"/>
              </a:rPr>
              <a:t> armazena de fato o histórico dos </a:t>
            </a:r>
            <a:r>
              <a:rPr lang="pt-BR" i="1" dirty="0" err="1">
                <a:ea typeface="+mn-lt"/>
                <a:cs typeface="+mn-lt"/>
              </a:rPr>
              <a:t>commits</a:t>
            </a:r>
            <a:r>
              <a:rPr lang="pt-BR" dirty="0">
                <a:ea typeface="+mn-lt"/>
                <a:cs typeface="+mn-lt"/>
              </a:rPr>
              <a:t>. Fica dentro da pasta oculta </a:t>
            </a:r>
            <a:r>
              <a:rPr lang="pt-BR" dirty="0">
                <a:latin typeface="Consolas"/>
              </a:rPr>
              <a:t>.</a:t>
            </a:r>
            <a:r>
              <a:rPr lang="pt-BR" dirty="0" err="1">
                <a:latin typeface="Consolas"/>
              </a:rPr>
              <a:t>git</a:t>
            </a:r>
            <a:r>
              <a:rPr lang="pt-BR" dirty="0">
                <a:ea typeface="+mn-lt"/>
                <a:cs typeface="+mn-lt"/>
              </a:rPr>
              <a:t> e contém todos os snapshots, versões e informações do projeto.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344204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DA1E4E-B849-23B1-4D6B-CF389155A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Vantagens</a:t>
            </a:r>
            <a:r>
              <a:rPr lang="pt-BR"/>
              <a:t> e Desvantagens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D545DB1-369D-E0FB-3295-31A6FB0698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85000" lnSpcReduction="20000"/>
          </a:bodyPr>
          <a:lstStyle/>
          <a:p>
            <a:pPr marL="0" indent="0">
              <a:buNone/>
            </a:pPr>
            <a:r>
              <a:rPr lang="pt-BR" dirty="0">
                <a:ea typeface="+mn-lt"/>
                <a:cs typeface="+mn-lt"/>
              </a:rPr>
              <a:t>As princip</a:t>
            </a:r>
            <a:r>
              <a:rPr lang="pt-BR">
                <a:ea typeface="+mn-lt"/>
                <a:cs typeface="+mn-lt"/>
              </a:rPr>
              <a:t>ais vantagens são:</a:t>
            </a:r>
            <a:endParaRPr lang="pt-BR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dirty="0">
              <a:ea typeface="+mn-lt"/>
              <a:cs typeface="+mn-lt"/>
            </a:endParaRPr>
          </a:p>
          <a:p>
            <a:pPr>
              <a:buAutoNum type="romanUcPeriod"/>
            </a:pPr>
            <a:r>
              <a:rPr lang="pt-BR" dirty="0">
                <a:ea typeface="+mn-lt"/>
                <a:cs typeface="+mn-lt"/>
              </a:rPr>
              <a:t>Controle </a:t>
            </a:r>
            <a:r>
              <a:rPr lang="pt-BR">
                <a:ea typeface="+mn-lt"/>
                <a:cs typeface="+mn-lt"/>
              </a:rPr>
              <a:t>de mudanças no código preciso.</a:t>
            </a:r>
            <a:endParaRPr lang="pt-BR" dirty="0"/>
          </a:p>
          <a:p>
            <a:pPr>
              <a:buAutoNum type="romanUcPeriod"/>
            </a:pPr>
            <a:endParaRPr lang="pt-BR" dirty="0">
              <a:ea typeface="+mn-lt"/>
              <a:cs typeface="+mn-lt"/>
            </a:endParaRPr>
          </a:p>
          <a:p>
            <a:pPr>
              <a:buAutoNum type="romanUcPeriod"/>
            </a:pPr>
            <a:r>
              <a:rPr lang="pt-BR" dirty="0">
                <a:ea typeface="+mn-lt"/>
                <a:cs typeface="+mn-lt"/>
              </a:rPr>
              <a:t>Permissão</a:t>
            </a:r>
            <a:r>
              <a:rPr lang="pt-BR">
                <a:ea typeface="+mn-lt"/>
                <a:cs typeface="+mn-lt"/>
              </a:rPr>
              <a:t> do trabalho colaborativo simultâneo.</a:t>
            </a:r>
            <a:endParaRPr lang="pt-BR" dirty="0"/>
          </a:p>
          <a:p>
            <a:pPr>
              <a:buAutoNum type="romanUcPeriod"/>
            </a:pPr>
            <a:endParaRPr lang="pt-BR" dirty="0">
              <a:ea typeface="+mn-lt"/>
              <a:cs typeface="+mn-lt"/>
            </a:endParaRPr>
          </a:p>
          <a:p>
            <a:pPr>
              <a:buAutoNum type="romanUcPeriod"/>
            </a:pPr>
            <a:r>
              <a:rPr lang="pt-BR">
                <a:ea typeface="+mn-lt"/>
                <a:cs typeface="+mn-lt"/>
              </a:rPr>
              <a:t>Garantia da integridade e rastreabilidade das alterações.</a:t>
            </a:r>
            <a:endParaRPr lang="pt-BR"/>
          </a:p>
          <a:p>
            <a:pPr>
              <a:buAutoNum type="romanUcPeriod"/>
            </a:pPr>
            <a:endParaRPr lang="pt-BR" dirty="0">
              <a:ea typeface="+mn-lt"/>
              <a:cs typeface="+mn-lt"/>
            </a:endParaRPr>
          </a:p>
          <a:p>
            <a:pPr>
              <a:buAutoNum type="romanUcPeriod"/>
            </a:pPr>
            <a:r>
              <a:rPr lang="pt-BR">
                <a:ea typeface="+mn-lt"/>
                <a:cs typeface="+mn-lt"/>
              </a:rPr>
              <a:t>Oferta de alto desempenho, mesmo em projetos grandes.</a:t>
            </a:r>
            <a:endParaRPr lang="pt-BR"/>
          </a:p>
          <a:p>
            <a:pPr>
              <a:buAutoNum type="romanUcPeriod"/>
            </a:pPr>
            <a:endParaRPr lang="pt-BR" dirty="0"/>
          </a:p>
          <a:p>
            <a:pPr>
              <a:buAutoNum type="romanUcPeriod"/>
            </a:pPr>
            <a:r>
              <a:rPr lang="pt-BR" dirty="0"/>
              <a:t>Ser </a:t>
            </a:r>
            <a:r>
              <a:rPr lang="pt-BR" i="1" dirty="0"/>
              <a:t>Open </a:t>
            </a:r>
            <a:r>
              <a:rPr lang="pt-BR" i="1" dirty="0" err="1"/>
              <a:t>Source</a:t>
            </a:r>
            <a:r>
              <a:rPr lang="pt-BR" i="1" dirty="0"/>
              <a:t> (Código Aberto), permitindo a fácil e gratuita aquisição dessa ferramenta.</a:t>
            </a:r>
          </a:p>
        </p:txBody>
      </p:sp>
    </p:spTree>
    <p:extLst>
      <p:ext uri="{BB962C8B-B14F-4D97-AF65-F5344CB8AC3E}">
        <p14:creationId xmlns:p14="http://schemas.microsoft.com/office/powerpoint/2010/main" val="20710125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9517D2-ECCC-7F60-46DA-806CFAB69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Vantagens e Desvantagens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9972ADF-8959-A268-2C01-F3F01BDB9B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/>
              <a:t>As desvantagens são:</a:t>
            </a:r>
          </a:p>
          <a:p>
            <a:pPr marL="0" indent="0">
              <a:buNone/>
            </a:pPr>
            <a:endParaRPr lang="pt-BR" dirty="0"/>
          </a:p>
          <a:p>
            <a:pPr>
              <a:buAutoNum type="romanUcPeriod"/>
            </a:pPr>
            <a:r>
              <a:rPr lang="pt-BR" dirty="0"/>
              <a:t>Difícil aprendizado por usar de vários conceitos que podem ser confusos para um iniciante como: </a:t>
            </a:r>
            <a:r>
              <a:rPr lang="pt-BR" i="1" dirty="0"/>
              <a:t>Branch, Merge, </a:t>
            </a:r>
            <a:r>
              <a:rPr lang="pt-BR" i="1" dirty="0" err="1"/>
              <a:t>Commit</a:t>
            </a:r>
            <a:r>
              <a:rPr lang="pt-BR" i="1" dirty="0"/>
              <a:t>, reset...</a:t>
            </a:r>
          </a:p>
          <a:p>
            <a:pPr>
              <a:buAutoNum type="romanUcPeriod"/>
            </a:pPr>
            <a:endParaRPr lang="pt-BR" i="1" dirty="0"/>
          </a:p>
          <a:p>
            <a:pPr>
              <a:buAutoNum type="romanUcPeriod"/>
            </a:pPr>
            <a:r>
              <a:rPr lang="pt-BR" i="1" dirty="0"/>
              <a:t>Exige um grande conhecimento técnico devido </a:t>
            </a:r>
            <a:r>
              <a:rPr lang="pt-BR" i="1"/>
              <a:t>ao uso de</a:t>
            </a:r>
            <a:r>
              <a:rPr lang="pt-BR" i="1" dirty="0"/>
              <a:t> linhas de comando. </a:t>
            </a:r>
          </a:p>
          <a:p>
            <a:pPr>
              <a:buAutoNum type="romanUcPeriod"/>
            </a:pPr>
            <a:endParaRPr lang="pt-BR" i="1" dirty="0"/>
          </a:p>
          <a:p>
            <a:pPr>
              <a:buAutoNum type="romanUcPeriod"/>
            </a:pPr>
            <a:r>
              <a:rPr lang="pt-BR" i="1"/>
              <a:t>Não lida bem com arquivos muito grandes, como vídeos, por ter sido projetado para trabalhar com código-fonte.</a:t>
            </a:r>
            <a:endParaRPr lang="pt-BR" i="1" dirty="0"/>
          </a:p>
          <a:p>
            <a:pPr>
              <a:buAutoNum type="romanUcPeriod"/>
            </a:pPr>
            <a:endParaRPr lang="pt-BR" i="1" dirty="0"/>
          </a:p>
          <a:p>
            <a:pPr>
              <a:buAutoNum type="romanUcPeriod"/>
            </a:pPr>
            <a:endParaRPr lang="pt-BR" i="1" dirty="0"/>
          </a:p>
          <a:p>
            <a:pPr marL="0" indent="0">
              <a:buNone/>
            </a:pPr>
            <a:endParaRPr lang="pt-BR" i="1" dirty="0"/>
          </a:p>
          <a:p>
            <a:pPr marL="0" indent="0">
              <a:buNone/>
            </a:pPr>
            <a:endParaRPr lang="pt-BR" i="1" dirty="0"/>
          </a:p>
          <a:p>
            <a:pPr marL="0" indent="0">
              <a:buNone/>
            </a:pPr>
            <a:endParaRPr lang="pt-BR" i="1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011467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FDA2E7-7FC8-81F9-CC6E-797FDA5C7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Funções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7B71593-3AED-1F1C-5EE5-408A18F05E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45753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673094-8968-2572-EC69-76FD66CF08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GITHUB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BFB3E9B-7FD8-E0B5-64FC-34413465A9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36170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4898F8-305F-289F-ECED-47C00F3A4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81C089-4161-E596-39A7-053DCC55AC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4593060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2C333A"/>
      </a:dk2>
      <a:lt2>
        <a:srgbClr val="D6ECED"/>
      </a:lt2>
      <a:accent1>
        <a:srgbClr val="DE32DE"/>
      </a:accent1>
      <a:accent2>
        <a:srgbClr val="F42B8A"/>
      </a:accent2>
      <a:accent3>
        <a:srgbClr val="349FE7"/>
      </a:accent3>
      <a:accent4>
        <a:srgbClr val="565FF8"/>
      </a:accent4>
      <a:accent5>
        <a:srgbClr val="876BE7"/>
      </a:accent5>
      <a:accent6>
        <a:srgbClr val="F268C2"/>
      </a:accent6>
      <a:hlink>
        <a:srgbClr val="F55CF9"/>
      </a:hlink>
      <a:folHlink>
        <a:srgbClr val="E8A0EE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F20B7C8E-B819-43F3-AAF9-EE50B1A8363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10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1" baseType="lpstr">
      <vt:lpstr>Wisp</vt:lpstr>
      <vt:lpstr>Apresentação do GIT</vt:lpstr>
      <vt:lpstr>Vamos Pensar</vt:lpstr>
      <vt:lpstr>O que é o GIT</vt:lpstr>
      <vt:lpstr>Propósito de desenvolvimento</vt:lpstr>
      <vt:lpstr>Componentes Importantes</vt:lpstr>
      <vt:lpstr>Vantagens e Desvantagens</vt:lpstr>
      <vt:lpstr>Vantagens e Desvantagens</vt:lpstr>
      <vt:lpstr>Funções </vt:lpstr>
      <vt:lpstr>GITHUB</vt:lpstr>
      <vt:lpstr>Aplicações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373</cp:revision>
  <dcterms:created xsi:type="dcterms:W3CDTF">2026-04-24T17:22:14Z</dcterms:created>
  <dcterms:modified xsi:type="dcterms:W3CDTF">2026-04-24T18:55:38Z</dcterms:modified>
</cp:coreProperties>
</file>