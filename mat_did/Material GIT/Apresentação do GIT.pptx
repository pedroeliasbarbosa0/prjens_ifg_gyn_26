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69" r:id="rId3"/>
    <p:sldId id="257" r:id="rId4"/>
    <p:sldId id="258" r:id="rId5"/>
    <p:sldId id="259" r:id="rId6"/>
    <p:sldId id="263" r:id="rId7"/>
    <p:sldId id="260" r:id="rId8"/>
    <p:sldId id="264" r:id="rId9"/>
    <p:sldId id="265" r:id="rId10"/>
    <p:sldId id="267" r:id="rId11"/>
    <p:sldId id="268" r:id="rId12"/>
    <p:sldId id="261" r:id="rId13"/>
    <p:sldId id="262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6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AA37B-992D-4FF8-B296-436558A1F2C8}" v="15" dt="2026-04-28T15:42:15.675"/>
    <p1510:client id="{610849D6-C85D-4B35-99CD-8522A345350E}" v="2279" dt="2026-04-27T15:07:06.276"/>
    <p1510:client id="{8E7718AC-2879-46FD-AC97-422BF3633D83}" v="329" dt="2026-04-27T15:57:17.213"/>
    <p1510:client id="{F774D46D-85C0-4673-8C61-ACC0FE538728}" v="464" dt="2026-04-28T15:33:08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0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1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2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8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996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9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3358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31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8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4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uario/projeto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Apresentação</a:t>
            </a:r>
            <a:r>
              <a:rPr lang="de-DE" dirty="0"/>
              <a:t> do GIT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Características</a:t>
            </a:r>
            <a:r>
              <a:rPr lang="de-DE" dirty="0"/>
              <a:t>, </a:t>
            </a:r>
            <a:r>
              <a:rPr lang="de-DE" dirty="0" err="1"/>
              <a:t>Exemplo</a:t>
            </a:r>
            <a:r>
              <a:rPr lang="de-DE" dirty="0"/>
              <a:t> de </a:t>
            </a:r>
            <a:r>
              <a:rPr lang="de-DE" dirty="0" err="1"/>
              <a:t>uso</a:t>
            </a:r>
            <a:r>
              <a:rPr lang="de-DE" dirty="0"/>
              <a:t> e </a:t>
            </a:r>
            <a:r>
              <a:rPr lang="de-DE" dirty="0" err="1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90B24-B6E3-F93B-60B1-B659D1A8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Considere um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BC2B4-B492-2C97-B95A-4FE075A4A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800" dirty="0">
                <a:ea typeface="+mn-lt"/>
                <a:cs typeface="+mn-lt"/>
              </a:rPr>
              <a:t>Um erro crítico é descoberto no código principal enquanto se está trabalhando em uma nova versão de um software, tornando necessário voltar ao arquivo principal sem perder o que se está trabalhando e fazer as alterações sem risco de danificar ainda mais o código, </a:t>
            </a:r>
            <a:r>
              <a:rPr lang="pt-BR" sz="2800">
                <a:ea typeface="+mn-lt"/>
                <a:cs typeface="+mn-lt"/>
              </a:rPr>
              <a:t>isso é</a:t>
            </a:r>
            <a:r>
              <a:rPr lang="pt-BR" sz="2800" dirty="0">
                <a:ea typeface="+mn-lt"/>
                <a:cs typeface="+mn-lt"/>
              </a:rPr>
              <a:t> possível?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000"/>
              <a:t>Primeiro, vamos entender a ferramenta que iremos utilizar para resolver o problema.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6579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525A-DBA7-D489-5952-609F3AFF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Vamos Pensar</a:t>
            </a:r>
          </a:p>
        </p:txBody>
      </p:sp>
      <p:pic>
        <p:nvPicPr>
          <p:cNvPr id="6" name="Espaço Reservado para Conteúdo 5" descr="Bolha de pensamento com preenchimento sólido">
            <a:extLst>
              <a:ext uri="{FF2B5EF4-FFF2-40B4-BE49-F238E27FC236}">
                <a16:creationId xmlns:a16="http://schemas.microsoft.com/office/drawing/2014/main" id="{A55F81E9-7AD0-8596-6473-5AAE108F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6612" y="-156595"/>
            <a:ext cx="1887557" cy="15662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92A17A-2860-DABF-17E3-C7BF322EF1A1}"/>
              </a:ext>
            </a:extLst>
          </p:cNvPr>
          <p:cNvSpPr txBox="1"/>
          <p:nvPr/>
        </p:nvSpPr>
        <p:spPr>
          <a:xfrm>
            <a:off x="1962410" y="2066794"/>
            <a:ext cx="8538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O que é o GIT?</a:t>
            </a:r>
          </a:p>
          <a:p>
            <a:endParaRPr lang="pt-BR" dirty="0"/>
          </a:p>
          <a:p>
            <a:r>
              <a:rPr lang="pt-BR"/>
              <a:t>Para qual aplicação essa ferramenta foi desenvolvida?</a:t>
            </a:r>
          </a:p>
          <a:p>
            <a:endParaRPr lang="pt-BR" dirty="0"/>
          </a:p>
          <a:p>
            <a:r>
              <a:rPr lang="pt-BR"/>
              <a:t>Qual suas vantagens e desvantagens?</a:t>
            </a:r>
          </a:p>
          <a:p>
            <a:endParaRPr lang="pt-BR" dirty="0"/>
          </a:p>
          <a:p>
            <a:r>
              <a:rPr lang="pt-BR" dirty="0"/>
              <a:t>E o </a:t>
            </a:r>
            <a:r>
              <a:rPr lang="pt-BR"/>
              <a:t>GITHUB? Qual a sua diferença?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Como ele pode me auxiliar em problemas do </a:t>
            </a:r>
            <a:r>
              <a:rPr lang="pt-BR"/>
              <a:t>dia a dia</a:t>
            </a:r>
            <a:r>
              <a:rPr lang="pt-BR" dirty="0"/>
              <a:t>?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Gráfico 7" descr="Ponto de interrogação com preenchimento sólido">
            <a:extLst>
              <a:ext uri="{FF2B5EF4-FFF2-40B4-BE49-F238E27FC236}">
                <a16:creationId xmlns:a16="http://schemas.microsoft.com/office/drawing/2014/main" id="{61D76B00-BDF3-5073-975E-EDF2CA68C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560000">
            <a:off x="6327354" y="153319"/>
            <a:ext cx="482907" cy="482907"/>
          </a:xfrm>
          <a:prstGeom prst="rect">
            <a:avLst/>
          </a:prstGeom>
        </p:spPr>
      </p:pic>
      <p:pic>
        <p:nvPicPr>
          <p:cNvPr id="9" name="Gráfico 8" descr="Ponto de interrogação com preenchimento sólido">
            <a:extLst>
              <a:ext uri="{FF2B5EF4-FFF2-40B4-BE49-F238E27FC236}">
                <a16:creationId xmlns:a16="http://schemas.microsoft.com/office/drawing/2014/main" id="{CBE13776-4086-48D4-8B5B-18DFD4038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6052" y="144138"/>
            <a:ext cx="482907" cy="482907"/>
          </a:xfrm>
          <a:prstGeom prst="rect">
            <a:avLst/>
          </a:prstGeom>
        </p:spPr>
      </p:pic>
      <p:pic>
        <p:nvPicPr>
          <p:cNvPr id="10" name="Gráfico 9" descr="Ponto de interrogação com preenchimento sólido">
            <a:extLst>
              <a:ext uri="{FF2B5EF4-FFF2-40B4-BE49-F238E27FC236}">
                <a16:creationId xmlns:a16="http://schemas.microsoft.com/office/drawing/2014/main" id="{547845BF-8218-196C-67D1-D024480A4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0000">
            <a:off x="6804751" y="153319"/>
            <a:ext cx="482907" cy="4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29A89-48FF-E6ED-E0DC-583FEE4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60150-C333-D688-DB75-44043867B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-O </a:t>
            </a:r>
            <a:r>
              <a:rPr lang="pt-BR" i="1" dirty="0" err="1">
                <a:ea typeface="+mn-lt"/>
                <a:cs typeface="+mn-lt"/>
              </a:rPr>
              <a:t>Git</a:t>
            </a:r>
            <a:r>
              <a:rPr lang="pt-BR" i="1" dirty="0">
                <a:ea typeface="+mn-lt"/>
                <a:cs typeface="+mn-lt"/>
              </a:rPr>
              <a:t> </a:t>
            </a:r>
            <a:r>
              <a:rPr lang="pt-BR" dirty="0">
                <a:ea typeface="+mn-lt"/>
                <a:cs typeface="+mn-lt"/>
              </a:rPr>
              <a:t>é um sistema de controle de versão de ampla distribuição. Sendo muito utilizado no desenvolvimento de </a:t>
            </a:r>
            <a:r>
              <a:rPr lang="pt-BR" i="1" dirty="0">
                <a:ea typeface="+mn-lt"/>
                <a:cs typeface="+mn-lt"/>
              </a:rPr>
              <a:t>softwares, especialmente quando se está trabalhando com equipes grandes e há uma necessidade de comunicar e compartilhar os arqui</a:t>
            </a:r>
            <a:r>
              <a:rPr lang="pt-BR" i="1" dirty="0"/>
              <a:t>vos </a:t>
            </a:r>
            <a:r>
              <a:rPr lang="pt-BR" i="1" dirty="0">
                <a:ea typeface="+mn-lt"/>
                <a:cs typeface="+mn-lt"/>
              </a:rPr>
              <a:t>entre os elementos dessa equipe.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Ele funciona como um repositório de "fotos" que são tiradas dos arquivos no momento que são armazenadas no repositório e essas fotos </a:t>
            </a:r>
            <a:r>
              <a:rPr lang="pt-BR"/>
              <a:t>também podem ser comparadas com a última versão do arquivo para se identificar todas as alterações feitas na </a:t>
            </a:r>
            <a:r>
              <a:rPr lang="pt-BR" err="1"/>
              <a:t>nov</a:t>
            </a:r>
            <a:r>
              <a:rPr lang="pt-BR"/>
              <a:t>a versão.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58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A9D71-CD0F-AF69-E074-25A1BDAD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Propó</a:t>
            </a:r>
            <a:r>
              <a:rPr lang="pt-BR"/>
              <a:t>sito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C6E499-3BB6-5112-2A22-89ECCD83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12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Ele surgiu em 2005, criado por Linus Torvalds, para atender às necessidades do desenvolvimento do Linux.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Quando o desenvolvedor abriu o código para possibilitar que outros usuários o ajudassem no desenvolvimento. Ele se viu necessitando de uma plataforma para gerenciar o enorme </a:t>
            </a:r>
            <a:r>
              <a:rPr lang="pt-BR" err="1"/>
              <a:t>flu</a:t>
            </a:r>
            <a:r>
              <a:rPr lang="pt-BR"/>
              <a:t>xo de versões e atualizações recebidas.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Apesar de existir ferramentas do tipo naquela época, elas eram pagas, às tornando inviáveis para as centenas e eventualmente milhares de </a:t>
            </a:r>
            <a:r>
              <a:rPr lang="pt-BR"/>
              <a:t>contribuidores no projeto.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Por isso o GIT foi desenvolvido em paralelo com o sistema operacional que ele estava </a:t>
            </a:r>
            <a:r>
              <a:rPr lang="pt-BR"/>
              <a:t>desenvolvendo para auxiliar em sua produção.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709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E859C-0A29-65CA-8A3C-0DA5852D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Componentes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22322-40D6-2E76-0123-2C30DF9B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i="1" dirty="0" err="1"/>
              <a:t>Working</a:t>
            </a:r>
            <a:r>
              <a:rPr lang="pt-BR" i="1" dirty="0"/>
              <a:t> </a:t>
            </a:r>
            <a:r>
              <a:rPr lang="pt-BR" i="1" dirty="0" err="1"/>
              <a:t>Directory</a:t>
            </a:r>
            <a:r>
              <a:rPr lang="pt-BR" i="1" dirty="0"/>
              <a:t> </a:t>
            </a:r>
            <a:r>
              <a:rPr lang="pt-BR" dirty="0"/>
              <a:t>(Diretório de Trabalho):</a:t>
            </a:r>
            <a:r>
              <a:rPr lang="pt-BR" dirty="0">
                <a:ea typeface="+mn-lt"/>
                <a:cs typeface="+mn-lt"/>
              </a:rPr>
              <a:t> É onde você edita os arquivos normalmente no seu computador. Aqui ficam as versões atuais dos arquivos, podendo estar modificadas, mas ainda não registradas no histórico do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Staging</a:t>
            </a:r>
            <a:r>
              <a:rPr lang="pt-BR" i="1" dirty="0"/>
              <a:t> Area </a:t>
            </a:r>
            <a:r>
              <a:rPr lang="pt-BR" dirty="0"/>
              <a:t>(Área de Preparação): </a:t>
            </a:r>
            <a:r>
              <a:rPr lang="pt-BR" dirty="0">
                <a:ea typeface="+mn-lt"/>
                <a:cs typeface="+mn-lt"/>
              </a:rPr>
              <a:t>É uma área intermediária onde você escolhe quais alterações irão para o próximo </a:t>
            </a:r>
            <a:r>
              <a:rPr lang="pt-BR" i="1" dirty="0" err="1">
                <a:ea typeface="+mn-lt"/>
                <a:cs typeface="+mn-lt"/>
              </a:rPr>
              <a:t>commit</a:t>
            </a:r>
            <a:r>
              <a:rPr lang="pt-BR" dirty="0">
                <a:ea typeface="+mn-lt"/>
                <a:cs typeface="+mn-lt"/>
              </a:rPr>
              <a:t>. Uma analogia que pode se fazer é com o camarim, que é um local reservado onde os artistas se preparam antes de entrarem no palco.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Repository</a:t>
            </a:r>
            <a:r>
              <a:rPr lang="pt-BR" i="1" dirty="0"/>
              <a:t> </a:t>
            </a:r>
            <a:r>
              <a:rPr lang="pt-BR" dirty="0"/>
              <a:t>(Repositório):</a:t>
            </a:r>
            <a:r>
              <a:rPr lang="pt-BR" dirty="0">
                <a:ea typeface="+mn-lt"/>
                <a:cs typeface="+mn-lt"/>
              </a:rPr>
              <a:t>É onde 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 armazena de fato o histórico dos </a:t>
            </a:r>
            <a:r>
              <a:rPr lang="pt-BR" i="1" dirty="0" err="1">
                <a:ea typeface="+mn-lt"/>
                <a:cs typeface="+mn-lt"/>
              </a:rPr>
              <a:t>commits</a:t>
            </a:r>
            <a:r>
              <a:rPr lang="pt-BR" dirty="0">
                <a:ea typeface="+mn-lt"/>
                <a:cs typeface="+mn-lt"/>
              </a:rPr>
              <a:t>. Fica dentro da pasta oculta </a:t>
            </a:r>
            <a:r>
              <a:rPr lang="pt-BR" dirty="0">
                <a:latin typeface="Consolas"/>
              </a:rPr>
              <a:t>.</a:t>
            </a:r>
            <a:r>
              <a:rPr lang="pt-BR" dirty="0" err="1">
                <a:latin typeface="Consolas"/>
              </a:rPr>
              <a:t>git</a:t>
            </a:r>
            <a:r>
              <a:rPr lang="pt-BR" dirty="0">
                <a:ea typeface="+mn-lt"/>
                <a:cs typeface="+mn-lt"/>
              </a:rPr>
              <a:t> e contém todos os snapshots, versões e informações do projeto.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42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A1E4E-B849-23B1-4D6B-CF389155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Vantagens</a:t>
            </a:r>
            <a:r>
              <a:rPr lang="pt-BR"/>
              <a:t> e Desvantagens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5DB1-369D-E0FB-3295-31A6FB06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As princip</a:t>
            </a:r>
            <a:r>
              <a:rPr lang="pt-BR">
                <a:ea typeface="+mn-lt"/>
                <a:cs typeface="+mn-lt"/>
              </a:rPr>
              <a:t>ais vantagens são:</a:t>
            </a:r>
            <a:endParaRPr lang="pt-BR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Controle </a:t>
            </a:r>
            <a:r>
              <a:rPr lang="pt-BR">
                <a:ea typeface="+mn-lt"/>
                <a:cs typeface="+mn-lt"/>
              </a:rPr>
              <a:t>de mudanças no código preciso.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Permissão</a:t>
            </a:r>
            <a:r>
              <a:rPr lang="pt-BR">
                <a:ea typeface="+mn-lt"/>
                <a:cs typeface="+mn-lt"/>
              </a:rPr>
              <a:t> do trabalho colaborativo simultâneo.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Garantia da integridade e rastreabilidade das alterações.</a:t>
            </a:r>
            <a:endParaRPr lang="pt-BR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Oferta de alto desempenho, mesmo em projetos grandes.</a:t>
            </a:r>
            <a:endParaRPr lang="pt-BR"/>
          </a:p>
          <a:p>
            <a:pPr>
              <a:buAutoNum type="romanUcPeriod"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Ser 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(Código Aberto), permitindo a fácil e gratuita aquisição dessa ferramenta.</a:t>
            </a:r>
          </a:p>
        </p:txBody>
      </p:sp>
    </p:spTree>
    <p:extLst>
      <p:ext uri="{BB962C8B-B14F-4D97-AF65-F5344CB8AC3E}">
        <p14:creationId xmlns:p14="http://schemas.microsoft.com/office/powerpoint/2010/main" val="207101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517D2-ECCC-7F60-46DA-806CFAB6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72ADF-8959-A268-2C01-F3F01BDB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As desvantagens são:</a:t>
            </a:r>
          </a:p>
          <a:p>
            <a:pPr marL="0" indent="0">
              <a:buNone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Difícil aprendizado por usar de vários conceitos que podem ser confusos para um iniciante como: </a:t>
            </a:r>
            <a:r>
              <a:rPr lang="pt-BR" i="1" dirty="0"/>
              <a:t>Branch, Merge, </a:t>
            </a:r>
            <a:r>
              <a:rPr lang="pt-BR" i="1" dirty="0" err="1"/>
              <a:t>Commit</a:t>
            </a:r>
            <a:r>
              <a:rPr lang="pt-BR" i="1" dirty="0"/>
              <a:t>, reset...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 dirty="0"/>
              <a:t>Exige um grande conhecimento técnico devido </a:t>
            </a:r>
            <a:r>
              <a:rPr lang="pt-BR" i="1"/>
              <a:t>ao uso de</a:t>
            </a:r>
            <a:r>
              <a:rPr lang="pt-BR" i="1" dirty="0"/>
              <a:t> linhas de comando. 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/>
              <a:t>Não lida bem com arquivos muito grandes, como vídeos, por ter sido projetado para trabalhar com código-fonte.</a:t>
            </a: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114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DA2E7-7FC8-81F9-CC6E-797FDA5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71593-3AED-1F1C-5EE5-408A18F0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449539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init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[nome do projeto] Cria um novo repositório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clone [</a:t>
            </a:r>
            <a:r>
              <a:rPr lang="pt-BR" b="1" i="1" dirty="0" err="1">
                <a:solidFill>
                  <a:schemeClr val="bg1"/>
                </a:solidFill>
              </a:rPr>
              <a:t>url</a:t>
            </a:r>
            <a:r>
              <a:rPr lang="pt-BR" b="1" i="1" dirty="0">
                <a:solidFill>
                  <a:schemeClr val="bg1"/>
                </a:solidFill>
              </a:rPr>
              <a:t>]: </a:t>
            </a:r>
            <a:r>
              <a:rPr lang="pt-BR" b="1" dirty="0">
                <a:solidFill>
                  <a:schemeClr val="bg1"/>
                </a:solidFill>
              </a:rPr>
              <a:t>clona de um repositório remoto para um repositório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 –m:</a:t>
            </a:r>
            <a:r>
              <a:rPr lang="pt-BR" b="1" dirty="0">
                <a:solidFill>
                  <a:schemeClr val="bg1"/>
                </a:solidFill>
              </a:rPr>
              <a:t> salva uma foto dos arquivos guardados na área de preparo no repositório local e escreve uma mensagem para o mesmo.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status:</a:t>
            </a:r>
            <a:r>
              <a:rPr lang="pt-BR" b="1" dirty="0">
                <a:solidFill>
                  <a:schemeClr val="bg1"/>
                </a:solidFill>
              </a:rPr>
              <a:t> mostra todos os arquivos que não foram salvos no repositório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: </a:t>
            </a:r>
            <a:r>
              <a:rPr lang="pt-BR" b="1" dirty="0">
                <a:solidFill>
                  <a:schemeClr val="bg1"/>
                </a:solidFill>
              </a:rPr>
              <a:t>mostra as alterações em </a:t>
            </a:r>
            <a:r>
              <a:rPr lang="pt-BR" b="1" dirty="0" err="1">
                <a:solidFill>
                  <a:schemeClr val="bg1"/>
                </a:solidFill>
              </a:rPr>
              <a:t>arqui</a:t>
            </a:r>
            <a:r>
              <a:rPr lang="pt-BR" b="1" dirty="0">
                <a:solidFill>
                  <a:schemeClr val="bg1"/>
                </a:solidFill>
              </a:rPr>
              <a:t>vos que ainda não estão na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–</a:t>
            </a:r>
            <a:r>
              <a:rPr lang="pt-BR" b="1" i="1" dirty="0" err="1">
                <a:solidFill>
                  <a:schemeClr val="bg1"/>
                </a:solidFill>
              </a:rPr>
              <a:t>cached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as alterações em arquivos na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1 commit2:</a:t>
            </a:r>
            <a:r>
              <a:rPr lang="pt-BR" b="1" dirty="0">
                <a:solidFill>
                  <a:schemeClr val="bg1"/>
                </a:solidFill>
              </a:rPr>
              <a:t> mostra a </a:t>
            </a:r>
            <a:r>
              <a:rPr lang="pt-BR" b="1" dirty="0" err="1">
                <a:solidFill>
                  <a:schemeClr val="bg1"/>
                </a:solidFill>
              </a:rPr>
              <a:t>differença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entr</a:t>
            </a:r>
            <a:r>
              <a:rPr lang="pt-BR" b="1" dirty="0">
                <a:solidFill>
                  <a:schemeClr val="bg1"/>
                </a:solidFill>
              </a:rPr>
              <a:t>e dois </a:t>
            </a:r>
            <a:r>
              <a:rPr lang="pt-BR" b="1" i="1" dirty="0" err="1">
                <a:solidFill>
                  <a:schemeClr val="bg1"/>
                </a:solidFill>
              </a:rPr>
              <a:t>commits</a:t>
            </a:r>
            <a:endParaRPr lang="pt-BR" b="1" i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75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6584F-2CC3-22FF-0F7E-DCE89C6B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Alguns comandos 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05F9A-3AAB-9049-CB5F-02F98746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0622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branch</a:t>
            </a:r>
            <a:r>
              <a:rPr lang="pt-BR" b="1" dirty="0">
                <a:solidFill>
                  <a:schemeClr val="bg1"/>
                </a:solidFill>
              </a:rPr>
              <a:t>: mostra todas as ramificações locais.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branch</a:t>
            </a:r>
            <a:r>
              <a:rPr lang="pt-BR" b="1" i="1" dirty="0">
                <a:solidFill>
                  <a:schemeClr val="bg1"/>
                </a:solidFill>
              </a:rPr>
              <a:t> (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dirty="0">
                <a:solidFill>
                  <a:schemeClr val="bg1"/>
                </a:solidFill>
              </a:rPr>
              <a:t>): cria uma nova ramificação do projeto chamada 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checkout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muda para uma versão diferente do projeto podendo visualizar também uma versão anterior.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tag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cria uma 'etiqueta' para a versão em que se está visualizando chamada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log: </a:t>
            </a:r>
            <a:r>
              <a:rPr lang="pt-BR" b="1" dirty="0">
                <a:solidFill>
                  <a:schemeClr val="bg1"/>
                </a:solidFill>
              </a:rPr>
              <a:t>mostra todas as alterações feitas em um projeto.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add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envia um arquivo para 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reset [file]: </a:t>
            </a:r>
            <a:r>
              <a:rPr lang="pt-BR" b="1" dirty="0">
                <a:solidFill>
                  <a:schemeClr val="bg1"/>
                </a:solidFill>
              </a:rPr>
              <a:t>retira um arquivo da área de preparação retando todas as mudanças realizadas.</a:t>
            </a:r>
          </a:p>
          <a:p>
            <a:pPr marL="0" indent="0">
              <a:buNone/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7413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F8084-7A69-D88B-DD92-AD8F7B67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2AA97-8EE4-FED2-B27E-BBB3F58B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830007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reset –hard:</a:t>
            </a:r>
            <a:r>
              <a:rPr lang="pt-BR" b="1" dirty="0">
                <a:solidFill>
                  <a:schemeClr val="bg1"/>
                </a:solidFill>
              </a:rPr>
              <a:t> descarta todas as mudanças até o último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  <a:endParaRPr lang="pt-BR" b="1" dirty="0">
              <a:solidFill>
                <a:schemeClr val="bg1"/>
              </a:solidFill>
            </a:endParaRP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merge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do ramo chamado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dirty="0">
                <a:solidFill>
                  <a:schemeClr val="bg1"/>
                </a:solidFill>
              </a:rPr>
              <a:t> no ramo principal ou o ramo que se está visualizando. 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pull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pega as alterações da versão de origem de um arquivo e merge com a versão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push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locais na versão de origem de um arquivo.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command</a:t>
            </a:r>
            <a:r>
              <a:rPr lang="pt-BR" b="1" i="1" dirty="0">
                <a:solidFill>
                  <a:schemeClr val="bg1"/>
                </a:solidFill>
              </a:rPr>
              <a:t> –help: </a:t>
            </a:r>
            <a:r>
              <a:rPr lang="pt-BR" b="1" dirty="0">
                <a:solidFill>
                  <a:schemeClr val="bg1"/>
                </a:solidFill>
              </a:rPr>
              <a:t>mostra uma ajuda para caso não se saiba um comando ou queira </a:t>
            </a:r>
            <a:r>
              <a:rPr lang="pt-BR" b="1" dirty="0" err="1">
                <a:solidFill>
                  <a:schemeClr val="bg1"/>
                </a:solidFill>
              </a:rPr>
              <a:t>sa</a:t>
            </a:r>
            <a:r>
              <a:rPr lang="pt-BR" b="1" dirty="0">
                <a:solidFill>
                  <a:schemeClr val="bg1"/>
                </a:solidFill>
              </a:rPr>
              <a:t>ber o que ele </a:t>
            </a:r>
            <a:r>
              <a:rPr lang="pt-BR" b="1" dirty="0" err="1">
                <a:solidFill>
                  <a:schemeClr val="bg1"/>
                </a:solidFill>
              </a:rPr>
              <a:t>fa</a:t>
            </a:r>
            <a:r>
              <a:rPr lang="pt-BR" b="1" dirty="0">
                <a:solidFill>
                  <a:schemeClr val="bg1"/>
                </a:solidFill>
              </a:rPr>
              <a:t>z.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73094-8968-2572-EC69-76FD66CF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B3E9B-7FD8-E0B5-64FC-34413465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github foi criado para trabalhar em cima do GIT, complementando o </a:t>
            </a:r>
            <a:r>
              <a:rPr lang="pt-BR"/>
              <a:t>mesmo e permitindo que se melhore a experiência de uso e cubra as suas deficiências.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err="1"/>
              <a:t>git</a:t>
            </a:r>
            <a:r>
              <a:rPr lang="pt-BR"/>
              <a:t>hub é uma plataforma online que permite que repositórios sejam hospedados em uma nuvem, facilitando o trabalho em equipe.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Outra forma como o github se diferencia do </a:t>
            </a:r>
            <a:r>
              <a:rPr lang="pt-BR" dirty="0" err="1"/>
              <a:t>git</a:t>
            </a:r>
            <a:r>
              <a:rPr lang="pt-BR" dirty="0"/>
              <a:t> é que ele é muito mais visual e intuitivo de se utilizar, não necessitando de comandos e assim </a:t>
            </a:r>
            <a:r>
              <a:rPr lang="pt-BR" dirty="0" err="1"/>
              <a:t>sen</a:t>
            </a:r>
            <a:r>
              <a:rPr lang="pt-BR" dirty="0"/>
              <a:t>do muito mais acessível para aqueles que não possuem experiência em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110361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898F8-305F-289F-ECED-47C00F3A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1C089-4161-E596-39A7-053DCC55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err="1"/>
              <a:t>Volatando</a:t>
            </a:r>
            <a:r>
              <a:rPr lang="pt-BR" dirty="0"/>
              <a:t> ao problema do </a:t>
            </a:r>
            <a:r>
              <a:rPr lang="pt-BR" dirty="0" err="1"/>
              <a:t>inicio</a:t>
            </a:r>
            <a:r>
              <a:rPr lang="pt-BR" dirty="0"/>
              <a:t> da apresentação: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Aqui estão os passos que serão seguidos para resolver o problema: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1. Salvar temporariamente o que você está fazendo</a:t>
            </a:r>
          </a:p>
          <a:p>
            <a:pPr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</a:t>
            </a:r>
            <a:r>
              <a:rPr lang="pt-BR" sz="1700" dirty="0" err="1">
                <a:latin typeface="Century Gothic"/>
              </a:rPr>
              <a:t>stash</a:t>
            </a:r>
            <a:r>
              <a:rPr lang="pt-BR" sz="1700" dirty="0">
                <a:ea typeface="+mn-lt"/>
                <a:cs typeface="+mn-lt"/>
              </a:rPr>
              <a:t> 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Guarda temporariamente suas alterações não </a:t>
            </a:r>
            <a:r>
              <a:rPr lang="pt-BR" sz="1700" dirty="0" err="1">
                <a:ea typeface="+mn-lt"/>
                <a:cs typeface="+mn-lt"/>
              </a:rPr>
              <a:t>commitadas</a:t>
            </a:r>
            <a:r>
              <a:rPr lang="pt-BR" sz="1700" dirty="0">
                <a:ea typeface="+mn-lt"/>
                <a:cs typeface="+mn-lt"/>
              </a:rPr>
              <a:t> e limpa o diretório de trabalho, permitindo mudar de contexto sem perder nada.</a:t>
            </a:r>
            <a:endParaRPr lang="pt-BR" sz="170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1900" dirty="0"/>
              <a:t>2. Voltar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</a:p>
          <a:p>
            <a:pPr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checkout </a:t>
            </a:r>
            <a:r>
              <a:rPr lang="pt-BR" sz="1700" dirty="0" err="1">
                <a:latin typeface="Century Gothic"/>
              </a:rPr>
              <a:t>main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Muda para a </a:t>
            </a:r>
            <a:r>
              <a:rPr lang="pt-BR" sz="1700" dirty="0" err="1">
                <a:ea typeface="+mn-lt"/>
                <a:cs typeface="+mn-lt"/>
              </a:rPr>
              <a:t>branch</a:t>
            </a:r>
            <a:r>
              <a:rPr lang="pt-BR" sz="1700" dirty="0">
                <a:ea typeface="+mn-lt"/>
                <a:cs typeface="+mn-lt"/>
              </a:rPr>
              <a:t> principal do projeto, onde está o </a:t>
            </a:r>
            <a:r>
              <a:rPr lang="pt-BR" sz="1700" dirty="0" err="1">
                <a:ea typeface="+mn-lt"/>
                <a:cs typeface="+mn-lt"/>
              </a:rPr>
              <a:t>código“oficial</a:t>
            </a:r>
            <a:r>
              <a:rPr lang="pt-BR" sz="1700" dirty="0">
                <a:ea typeface="+mn-lt"/>
                <a:cs typeface="+mn-lt"/>
              </a:rPr>
              <a:t>”.</a:t>
            </a:r>
            <a:endParaRPr lang="pt-BR" sz="1700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59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0202A-434E-C143-E16A-301CE0C4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BAB7E-6A0D-72F8-4557-CF94C5877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1723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pt-BR" sz="2600" dirty="0"/>
              <a:t>3. Criar uma nova </a:t>
            </a:r>
            <a:r>
              <a:rPr lang="pt-BR" sz="2600" dirty="0" err="1"/>
              <a:t>branch</a:t>
            </a:r>
            <a:r>
              <a:rPr lang="pt-BR" sz="2600" dirty="0"/>
              <a:t> para corrigir o erro</a:t>
            </a:r>
            <a:endParaRPr lang="en-US" sz="260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checkout -b </a:t>
            </a:r>
            <a:r>
              <a:rPr lang="pt-BR" sz="1900" dirty="0" err="1"/>
              <a:t>hotfix</a:t>
            </a:r>
            <a:r>
              <a:rPr lang="pt-BR" sz="1900" dirty="0"/>
              <a:t>-erro-</a:t>
            </a:r>
            <a:r>
              <a:rPr lang="pt-BR" sz="1900" dirty="0" err="1"/>
              <a:t>critico</a:t>
            </a:r>
            <a:r>
              <a:rPr lang="pt-BR" sz="1900" b="1" dirty="0"/>
              <a:t>: </a:t>
            </a:r>
            <a:r>
              <a:rPr lang="pt-BR" sz="1900" dirty="0"/>
              <a:t>Cria e já muda para uma nova </a:t>
            </a:r>
            <a:r>
              <a:rPr lang="pt-BR" sz="1900" dirty="0" err="1"/>
              <a:t>branch</a:t>
            </a:r>
            <a:r>
              <a:rPr lang="pt-BR" sz="1900" dirty="0"/>
              <a:t>. Isso isola a correção sem afetar o código principal diretamente.</a:t>
            </a:r>
            <a:endParaRPr lang="pt-BR" sz="1900"/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600"/>
              <a:t>4. Corrigir o erro e salvar</a:t>
            </a:r>
            <a:endParaRPr lang="en-US" sz="2600"/>
          </a:p>
          <a:p>
            <a:pPr>
              <a:buNone/>
            </a:pPr>
            <a:r>
              <a:rPr lang="pt-BR" sz="1900" dirty="0" err="1">
                <a:latin typeface="Century Gothic"/>
              </a:rPr>
              <a:t>git</a:t>
            </a:r>
            <a:r>
              <a:rPr lang="pt-BR" sz="1900" dirty="0">
                <a:latin typeface="Century Gothic"/>
              </a:rPr>
              <a:t> </a:t>
            </a:r>
            <a:r>
              <a:rPr lang="pt-BR" sz="1900" dirty="0" err="1">
                <a:latin typeface="Century Gothic"/>
              </a:rPr>
              <a:t>add</a:t>
            </a:r>
            <a:r>
              <a:rPr lang="pt-BR" sz="1900" dirty="0">
                <a:latin typeface="Century Gothic"/>
              </a:rPr>
              <a:t>: prepara as alterações para </a:t>
            </a:r>
            <a:r>
              <a:rPr lang="pt-BR" sz="1900" dirty="0" err="1">
                <a:latin typeface="Century Gothic"/>
              </a:rPr>
              <a:t>commit</a:t>
            </a:r>
            <a:r>
              <a:rPr lang="pt-BR" sz="1900" dirty="0">
                <a:latin typeface="Century Gothic"/>
              </a:rPr>
              <a:t> </a:t>
            </a:r>
          </a:p>
          <a:p>
            <a:pPr>
              <a:buNone/>
            </a:pPr>
            <a:r>
              <a:rPr lang="pt-BR" sz="1900" dirty="0" err="1">
                <a:latin typeface="Century Gothic"/>
              </a:rPr>
              <a:t>git</a:t>
            </a:r>
            <a:r>
              <a:rPr lang="pt-BR" sz="1900" dirty="0">
                <a:latin typeface="Century Gothic"/>
              </a:rPr>
              <a:t> </a:t>
            </a:r>
            <a:r>
              <a:rPr lang="pt-BR" sz="1900" dirty="0" err="1">
                <a:latin typeface="Century Gothic"/>
              </a:rPr>
              <a:t>commit</a:t>
            </a:r>
            <a:r>
              <a:rPr lang="pt-BR" sz="1900" dirty="0">
                <a:latin typeface="Century Gothic"/>
              </a:rPr>
              <a:t> -m "Corrige erro crítico": salva a correção no histórico </a:t>
            </a:r>
          </a:p>
          <a:p>
            <a:pPr indent="0">
              <a:buNone/>
            </a:pPr>
            <a:endParaRPr lang="en-US" sz="3400" dirty="0"/>
          </a:p>
          <a:p>
            <a:pPr>
              <a:buNone/>
            </a:pPr>
            <a:r>
              <a:rPr lang="pt-BR" sz="2600" dirty="0"/>
              <a:t>5. Aplicar a correção na </a:t>
            </a:r>
            <a:r>
              <a:rPr lang="pt-BR" sz="2600" dirty="0" err="1"/>
              <a:t>branch</a:t>
            </a:r>
            <a:r>
              <a:rPr lang="pt-BR" sz="2600" dirty="0"/>
              <a:t> principal</a:t>
            </a:r>
            <a:endParaRPr lang="en-US" sz="2600" dirty="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checkout </a:t>
            </a:r>
            <a:r>
              <a:rPr lang="pt-BR" sz="1900" dirty="0" err="1"/>
              <a:t>main</a:t>
            </a:r>
            <a:r>
              <a:rPr lang="pt-BR" sz="1900" dirty="0"/>
              <a:t>: Volta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  <a:endParaRPr lang="en-US" sz="190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merge </a:t>
            </a:r>
            <a:r>
              <a:rPr lang="pt-BR" sz="1900" dirty="0" err="1"/>
              <a:t>hotfix</a:t>
            </a:r>
            <a:r>
              <a:rPr lang="pt-BR" sz="1900" dirty="0"/>
              <a:t>-erro-</a:t>
            </a:r>
            <a:r>
              <a:rPr lang="pt-BR" sz="1900" dirty="0" err="1"/>
              <a:t>critico</a:t>
            </a:r>
            <a:r>
              <a:rPr lang="pt-BR" sz="1900" dirty="0"/>
              <a:t>: Junta (</a:t>
            </a:r>
            <a:r>
              <a:rPr lang="pt-BR" sz="1900" i="1" dirty="0"/>
              <a:t>merge</a:t>
            </a:r>
            <a:r>
              <a:rPr lang="pt-BR" sz="1900" dirty="0"/>
              <a:t>) a correção feita na </a:t>
            </a:r>
            <a:r>
              <a:rPr lang="pt-BR" sz="1900" dirty="0" err="1"/>
              <a:t>branch</a:t>
            </a:r>
            <a:r>
              <a:rPr lang="pt-BR" sz="1900" dirty="0"/>
              <a:t> de </a:t>
            </a:r>
            <a:r>
              <a:rPr lang="pt-BR" sz="1900" dirty="0" err="1"/>
              <a:t>hotfix</a:t>
            </a:r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2278136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43D66-D1A5-D712-35D2-EC74761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E4F73-8AE1-B869-AD7A-6EA2A99A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endParaRPr lang="en-US" sz="800" dirty="0"/>
          </a:p>
          <a:p>
            <a:pPr marL="0" indent="0">
              <a:buNone/>
            </a:pPr>
            <a:endParaRPr lang="pt-BR" sz="800" dirty="0"/>
          </a:p>
          <a:p>
            <a:pPr>
              <a:buNone/>
            </a:pPr>
            <a:r>
              <a:rPr lang="pt-BR" dirty="0"/>
              <a:t>6.(Opcional) Apagar a </a:t>
            </a:r>
            <a:r>
              <a:rPr lang="pt-BR" dirty="0" err="1"/>
              <a:t>branch</a:t>
            </a:r>
            <a:r>
              <a:rPr lang="pt-BR" dirty="0"/>
              <a:t> de correção</a:t>
            </a:r>
            <a:endParaRPr lang="en-US"/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-d </a:t>
            </a:r>
            <a:r>
              <a:rPr lang="pt-BR" sz="1600" dirty="0" err="1">
                <a:latin typeface="Century Gothic"/>
              </a:rPr>
              <a:t>hotfix</a:t>
            </a:r>
            <a:r>
              <a:rPr lang="pt-BR" sz="1600" dirty="0">
                <a:latin typeface="Century Gothic"/>
              </a:rPr>
              <a:t>-erro-</a:t>
            </a:r>
            <a:r>
              <a:rPr lang="pt-BR" sz="1600" dirty="0" err="1">
                <a:latin typeface="Century Gothic"/>
              </a:rPr>
              <a:t>critico</a:t>
            </a:r>
            <a:r>
              <a:rPr lang="pt-BR" sz="1600" dirty="0">
                <a:latin typeface="Century Gothic"/>
              </a:rPr>
              <a:t>: Remove</a:t>
            </a:r>
            <a:r>
              <a:rPr lang="pt-BR" sz="1600" dirty="0"/>
              <a:t> a </a:t>
            </a:r>
            <a:r>
              <a:rPr lang="pt-BR" sz="1600" dirty="0" err="1"/>
              <a:t>branch</a:t>
            </a:r>
            <a:r>
              <a:rPr lang="pt-BR" sz="1600" dirty="0"/>
              <a:t> temporária após o uso.</a:t>
            </a:r>
            <a:br>
              <a:rPr lang="en-US" sz="1600" dirty="0"/>
            </a:br>
            <a:endParaRPr lang="en-US" sz="1600">
              <a:latin typeface="Century Gothic"/>
              <a:ea typeface="Calibri"/>
              <a:cs typeface="Calibri"/>
            </a:endParaRPr>
          </a:p>
          <a:p>
            <a:pPr>
              <a:buNone/>
            </a:pPr>
            <a:r>
              <a:rPr lang="pt-BR" sz="1600" dirty="0"/>
              <a:t> </a:t>
            </a:r>
            <a:r>
              <a:rPr lang="pt-BR"/>
              <a:t>7. Voltar ao que você estava fazendo antes</a:t>
            </a:r>
            <a:endParaRPr lang="en-US"/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checkout sua-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: Retorna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de desenvolvimento </a:t>
            </a:r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stash</a:t>
            </a:r>
            <a:r>
              <a:rPr lang="pt-BR" sz="1600" dirty="0">
                <a:latin typeface="Century Gothic"/>
              </a:rPr>
              <a:t> pop: recupera o que você estava fazendo antes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296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8BF1-DF79-8CDA-8CAA-FFFA69DB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foi feito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3C497-A4EB-D0E5-3824-5AFF0390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indent="0">
              <a:buNone/>
            </a:pPr>
            <a:endParaRPr lang="en-US" dirty="0"/>
          </a:p>
          <a:p>
            <a:pPr>
              <a:buNone/>
            </a:pPr>
            <a:r>
              <a:rPr lang="pt-BR"/>
              <a:t>Você:</a:t>
            </a:r>
            <a:endParaRPr lang="pt-BR" dirty="0"/>
          </a:p>
          <a:p>
            <a:pPr>
              <a:buNone/>
            </a:pPr>
            <a:endParaRPr lang="pt-BR" dirty="0"/>
          </a:p>
          <a:p>
            <a:pPr>
              <a:buAutoNum type="arabicParenR"/>
            </a:pPr>
            <a:r>
              <a:rPr lang="pt-BR" dirty="0"/>
              <a:t>Guardou o trabalho atual (</a:t>
            </a:r>
            <a:r>
              <a:rPr lang="pt-BR" i="1" dirty="0" err="1"/>
              <a:t>stash</a:t>
            </a:r>
            <a:r>
              <a:rPr lang="pt-BR" dirty="0"/>
              <a:t>)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Foi para a ramifi</a:t>
            </a:r>
            <a:r>
              <a:rPr lang="pt-BR"/>
              <a:t>cação principal</a:t>
            </a:r>
            <a:r>
              <a:rPr lang="pt-BR" dirty="0"/>
              <a:t> </a:t>
            </a:r>
          </a:p>
          <a:p>
            <a:pPr>
              <a:buAutoNum type="arabicParenR"/>
            </a:pPr>
            <a:r>
              <a:rPr lang="pt-BR" dirty="0"/>
              <a:t>Criou uma </a:t>
            </a:r>
            <a:r>
              <a:rPr lang="pt-BR" i="1" dirty="0" err="1"/>
              <a:t>branch</a:t>
            </a:r>
            <a:r>
              <a:rPr lang="pt-BR" dirty="0"/>
              <a:t> de correção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Fez a correção e fez um </a:t>
            </a:r>
            <a:r>
              <a:rPr lang="pt-BR" i="1" dirty="0" err="1"/>
              <a:t>commit</a:t>
            </a:r>
            <a:r>
              <a:rPr lang="pt-BR" i="1" dirty="0"/>
              <a:t> </a:t>
            </a:r>
            <a:endParaRPr lang="en-US" i="1" dirty="0"/>
          </a:p>
          <a:p>
            <a:pPr>
              <a:buAutoNum type="arabicParenR"/>
            </a:pPr>
            <a:r>
              <a:rPr lang="pt-BR" dirty="0"/>
              <a:t>Integrou </a:t>
            </a:r>
            <a:r>
              <a:rPr lang="pt-BR"/>
              <a:t>no arquivo principal</a:t>
            </a:r>
            <a:r>
              <a:rPr lang="pt-BR" dirty="0"/>
              <a:t> (</a:t>
            </a:r>
            <a:r>
              <a:rPr lang="pt-BR" i="1" dirty="0"/>
              <a:t>merge</a:t>
            </a:r>
            <a:r>
              <a:rPr lang="pt-BR" dirty="0"/>
              <a:t>) </a:t>
            </a:r>
          </a:p>
          <a:p>
            <a:pPr>
              <a:buAutoNum type="arabicParenR"/>
            </a:pPr>
            <a:r>
              <a:rPr lang="pt-BR"/>
              <a:t>Excluiu a ramificação de correção do erro</a:t>
            </a:r>
            <a:endParaRPr lang="pt-BR" dirty="0"/>
          </a:p>
          <a:p>
            <a:pPr>
              <a:buAutoNum type="arabicParenR"/>
            </a:pPr>
            <a:r>
              <a:rPr lang="pt-BR"/>
              <a:t>Voltou ao seu trabalho original</a:t>
            </a:r>
          </a:p>
        </p:txBody>
      </p:sp>
    </p:spTree>
    <p:extLst>
      <p:ext uri="{BB962C8B-B14F-4D97-AF65-F5344CB8AC3E}">
        <p14:creationId xmlns:p14="http://schemas.microsoft.com/office/powerpoint/2010/main" val="71837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7F7A-6DF4-3F85-ED36-23C5B749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7165F-18B8-8397-8679-CBABFA527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/>
              <a:t>1. Criar um repositório local e clonar da nuvem</a:t>
            </a:r>
          </a:p>
          <a:p>
            <a:pPr marL="0" indent="0">
              <a:buNone/>
            </a:pPr>
            <a:r>
              <a:rPr lang="pt-BR" sz="1600"/>
              <a:t>Este são os primeiros processos que serão realizados em um projeto.</a:t>
            </a:r>
            <a:endParaRPr lang="pt-BR" sz="1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Criar repositório local</a:t>
            </a:r>
            <a:endParaRPr lang="pt-BR" dirty="0"/>
          </a:p>
          <a:p>
            <a:pPr marL="0" indent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init</a:t>
            </a:r>
            <a:r>
              <a:rPr lang="pt-BR" sz="1600" dirty="0"/>
              <a:t>: Inicializa um repositório </a:t>
            </a:r>
            <a:r>
              <a:rPr lang="pt-BR" sz="1600" dirty="0" err="1"/>
              <a:t>Git</a:t>
            </a:r>
            <a:r>
              <a:rPr lang="pt-BR" sz="1600" dirty="0"/>
              <a:t> na pasta atual. A partir </a:t>
            </a:r>
            <a:r>
              <a:rPr lang="pt-BR" sz="1600" dirty="0" err="1"/>
              <a:t>daqui, o</a:t>
            </a:r>
            <a:r>
              <a:rPr lang="pt-BR" sz="1600" dirty="0"/>
              <a:t> </a:t>
            </a:r>
            <a:r>
              <a:rPr lang="pt-BR" sz="1600" dirty="0" err="1"/>
              <a:t>Git</a:t>
            </a:r>
            <a:r>
              <a:rPr lang="pt-BR" sz="1600" dirty="0"/>
              <a:t> começa a rastrear alterações.</a:t>
            </a:r>
            <a:endParaRPr lang="pt-BR" sz="160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r>
              <a:rPr lang="pt-BR"/>
              <a:t>Clonar um repositório remoto</a:t>
            </a:r>
            <a:endParaRPr lang="pt-BR" dirty="0"/>
          </a:p>
          <a:p>
            <a:pPr marL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clone </a:t>
            </a:r>
            <a:r>
              <a:rPr lang="pt-B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https://github.com/usuario/projeto.git</a:t>
            </a:r>
            <a:r>
              <a:rPr lang="pt-BR" sz="1600" dirty="0">
                <a:solidFill>
                  <a:schemeClr val="tx1"/>
                </a:solidFill>
                <a:latin typeface="Century Gothic"/>
              </a:rPr>
              <a:t>: </a:t>
            </a:r>
            <a:r>
              <a:rPr lang="pt-BR" sz="1600" dirty="0">
                <a:solidFill>
                  <a:srgbClr val="FFFFFF"/>
                </a:solidFill>
                <a:latin typeface="Century Gothic"/>
              </a:rPr>
              <a:t>Baixa</a:t>
            </a:r>
            <a:r>
              <a:rPr lang="pt-BR" sz="1600" dirty="0">
                <a:ea typeface="+mn-lt"/>
                <a:cs typeface="+mn-lt"/>
              </a:rPr>
              <a:t> um repositório da nuvem (por exemplo, do GitHub) para sua máquina, incluindo todo o histórico.</a:t>
            </a:r>
            <a:endParaRPr lang="pt-BR" sz="16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417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3844-1091-E3ED-93F0-8521E7CF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2369A-D185-50CB-F229-91ACA8DA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23F54-A8CB-4C5F-F059-483098C15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 dirty="0"/>
              <a:t>2. Colocar um item na área de preparo e fazer </a:t>
            </a:r>
            <a:r>
              <a:rPr lang="pt-BR" sz="2400" dirty="0" err="1"/>
              <a:t>commit</a:t>
            </a:r>
            <a:endParaRPr lang="pt-BR" sz="2400"/>
          </a:p>
          <a:p>
            <a:pPr marL="0">
              <a:buNone/>
            </a:pPr>
            <a:r>
              <a:rPr lang="pt-BR" sz="1600" dirty="0">
                <a:latin typeface="Century Gothic"/>
              </a:rPr>
              <a:t>Após o projeto alcançar um desenvolvimento apropriado, se é recomendado realizar um </a:t>
            </a:r>
            <a:r>
              <a:rPr lang="pt-BR" sz="1600" i="1" dirty="0" err="1">
                <a:latin typeface="Century Gothic"/>
              </a:rPr>
              <a:t>commit</a:t>
            </a:r>
            <a:r>
              <a:rPr lang="pt-BR" sz="1600" i="1" dirty="0">
                <a:latin typeface="Century Gothic"/>
              </a:rPr>
              <a:t> </a:t>
            </a:r>
            <a:r>
              <a:rPr lang="pt-BR" sz="1600" dirty="0">
                <a:latin typeface="Century Gothic"/>
              </a:rPr>
              <a:t>para que o presente estado do arquivo seja salvo no repositório e antes que isso seja feito é necessário movê-lo para a área de preparo,</a:t>
            </a:r>
          </a:p>
          <a:p>
            <a:pPr marL="0">
              <a:buNone/>
            </a:pPr>
            <a:endParaRPr lang="pt-BR" sz="2400" dirty="0">
              <a:latin typeface="Century Gothic"/>
            </a:endParaRPr>
          </a:p>
          <a:p>
            <a:pPr marL="0">
              <a:buNone/>
            </a:pPr>
            <a:r>
              <a:rPr lang="pt-BR" dirty="0" err="1">
                <a:latin typeface="Century Gothic"/>
              </a:rPr>
              <a:t>git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add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arquivo.txt:envia</a:t>
            </a:r>
            <a:r>
              <a:rPr lang="pt-BR" dirty="0">
                <a:latin typeface="Century Gothic"/>
              </a:rPr>
              <a:t> o arquivo para a </a:t>
            </a:r>
            <a:r>
              <a:rPr lang="pt-BR" i="1" dirty="0" err="1">
                <a:latin typeface="Century Gothic"/>
              </a:rPr>
              <a:t>staging</a:t>
            </a:r>
            <a:r>
              <a:rPr lang="pt-BR" i="1" dirty="0">
                <a:latin typeface="Century Gothic"/>
              </a:rPr>
              <a:t> </a:t>
            </a:r>
            <a:r>
              <a:rPr lang="pt-BR" i="1" dirty="0" err="1">
                <a:latin typeface="Century Gothic"/>
              </a:rPr>
              <a:t>area</a:t>
            </a:r>
            <a:r>
              <a:rPr lang="pt-BR" dirty="0">
                <a:latin typeface="Century Gothic"/>
              </a:rPr>
              <a:t> (área de preparo) </a:t>
            </a:r>
          </a:p>
          <a:p>
            <a:pPr marL="0">
              <a:buNone/>
            </a:pPr>
            <a:r>
              <a:rPr lang="pt-BR" dirty="0" err="1">
                <a:latin typeface="Century Gothic"/>
              </a:rPr>
              <a:t>git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commit</a:t>
            </a:r>
            <a:r>
              <a:rPr lang="pt-BR" dirty="0">
                <a:latin typeface="Century Gothic"/>
              </a:rPr>
              <a:t> -m "Adiciona arquivo": salva definitivamente a alteração no histórico do projeto</a:t>
            </a:r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9506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7886-88D6-AD8B-D135-3CB9C91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FA64-0B06-5D68-F02A-C2672C9B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C9B750-9AC6-2C01-4051-B0E74BD19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sz="2600" dirty="0"/>
              <a:t>3. Pegar alterações da </a:t>
            </a:r>
            <a:r>
              <a:rPr lang="pt-BR" sz="2600" dirty="0" err="1"/>
              <a:t>branch</a:t>
            </a:r>
            <a:r>
              <a:rPr lang="pt-BR" sz="2600" dirty="0"/>
              <a:t> principal e mesclar com outra </a:t>
            </a:r>
            <a:r>
              <a:rPr lang="pt-BR" sz="2600" dirty="0" err="1"/>
              <a:t>branch</a:t>
            </a:r>
            <a:endParaRPr lang="pt-BR" sz="2600" dirty="0"/>
          </a:p>
          <a:p>
            <a:pPr marL="0" indent="0">
              <a:buNone/>
            </a:pPr>
            <a:r>
              <a:rPr lang="pt-BR" dirty="0"/>
              <a:t>Quando se faz trabalhos em equipe é previsto que seja necessário pegar alterações feitas </a:t>
            </a:r>
            <a:r>
              <a:rPr lang="pt-BR"/>
              <a:t>por outros membros do grupo e mesclar as mesmas com as que estão sendo feitas localmente.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Atualizar a principal</a:t>
            </a:r>
            <a:endParaRPr lang="pt-BR" sz="1900" dirty="0"/>
          </a:p>
          <a:p>
            <a:pPr marL="0" indent="0"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checkout </a:t>
            </a:r>
            <a:r>
              <a:rPr lang="pt-BR" sz="1700" dirty="0" err="1">
                <a:latin typeface="Century Gothic"/>
              </a:rPr>
              <a:t>main</a:t>
            </a:r>
            <a:r>
              <a:rPr lang="pt-BR" sz="1700" dirty="0">
                <a:latin typeface="Century Gothic"/>
              </a:rPr>
              <a:t>: muda para a </a:t>
            </a:r>
            <a:r>
              <a:rPr lang="pt-BR" sz="1700" dirty="0" err="1">
                <a:latin typeface="Century Gothic"/>
              </a:rPr>
              <a:t>branch</a:t>
            </a:r>
            <a:r>
              <a:rPr lang="pt-BR" sz="1700" dirty="0">
                <a:latin typeface="Century Gothic"/>
              </a:rPr>
              <a:t> principal </a:t>
            </a:r>
            <a:br>
              <a:rPr lang="pt-BR" sz="1700" dirty="0">
                <a:latin typeface="Century Gothic"/>
              </a:rPr>
            </a:b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</a:t>
            </a:r>
            <a:r>
              <a:rPr lang="pt-BR" sz="1700" dirty="0" err="1">
                <a:latin typeface="Century Gothic"/>
              </a:rPr>
              <a:t>pull</a:t>
            </a:r>
            <a:r>
              <a:rPr lang="pt-BR" sz="1700" dirty="0">
                <a:latin typeface="Century Gothic"/>
              </a:rPr>
              <a:t>: baixa e integra alterações do repositório remoto</a:t>
            </a:r>
            <a:r>
              <a:rPr lang="pt-BR" sz="2400" dirty="0">
                <a:latin typeface="Century Gothic"/>
              </a:rPr>
              <a:t> </a:t>
            </a:r>
            <a:endParaRPr lang="pt-BR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t-BR" sz="1900" dirty="0"/>
              <a:t>Ir para sua </a:t>
            </a:r>
            <a:r>
              <a:rPr lang="pt-BR" sz="1900" dirty="0" err="1"/>
              <a:t>branch</a:t>
            </a:r>
            <a:r>
              <a:rPr lang="pt-BR" sz="1900" dirty="0"/>
              <a:t> e mesclar</a:t>
            </a:r>
          </a:p>
          <a:p>
            <a:pPr marL="0" indent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checkout minha-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: Volta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</a:t>
            </a:r>
            <a:br>
              <a:rPr lang="pt-BR" sz="1600" dirty="0">
                <a:latin typeface="Century Gothic"/>
              </a:rPr>
            </a:b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merge </a:t>
            </a:r>
            <a:r>
              <a:rPr lang="pt-BR" sz="1600" dirty="0" err="1">
                <a:latin typeface="Century Gothic"/>
              </a:rPr>
              <a:t>main</a:t>
            </a:r>
            <a:r>
              <a:rPr lang="pt-BR" sz="1600" dirty="0">
                <a:latin typeface="Century Gothic"/>
              </a:rPr>
              <a:t>: traz as atualizações da principal para sua </a:t>
            </a:r>
            <a:r>
              <a:rPr lang="pt-BR" sz="1600" dirty="0" err="1">
                <a:latin typeface="Century Gothic"/>
              </a:rPr>
              <a:t>branch</a:t>
            </a:r>
            <a:endParaRPr lang="pt-BR" sz="1600" dirty="0" err="1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2256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3DED-282F-9AE8-8184-7C3541E9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66D1-0471-8680-DC3E-D4C15A05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1AFBF-06F4-0533-47CC-52364597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>
              <a:buNone/>
            </a:pPr>
            <a:r>
              <a:rPr lang="pt-BR" sz="2400"/>
              <a:t>4. Resetar arquivo sem perder alterações</a:t>
            </a:r>
            <a:endParaRPr lang="pt-BR" sz="2400" dirty="0"/>
          </a:p>
          <a:p>
            <a:pPr marL="0">
              <a:buNone/>
            </a:pPr>
            <a:r>
              <a:rPr lang="pt-BR" sz="1600" dirty="0"/>
              <a:t>Quando se vê que a </a:t>
            </a:r>
            <a:r>
              <a:rPr lang="pt-BR" sz="1600" dirty="0" err="1"/>
              <a:t>idéia</a:t>
            </a:r>
            <a:r>
              <a:rPr lang="pt-BR" sz="1600" dirty="0"/>
              <a:t> testada em um ramo</a:t>
            </a:r>
            <a:r>
              <a:rPr lang="pt-BR" sz="1600" i="1" dirty="0"/>
              <a:t> não dará frutos imediatos, é as vezes necessário </a:t>
            </a:r>
            <a:r>
              <a:rPr lang="pt-BR" sz="1600" i="1" dirty="0" err="1"/>
              <a:t>momentariamente</a:t>
            </a:r>
            <a:r>
              <a:rPr lang="pt-BR" sz="1600" i="1" dirty="0"/>
              <a:t> guardar aquele ramo e voltar ao trabalho principal.</a:t>
            </a:r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r>
              <a:rPr lang="pt-BR"/>
              <a:t>Opção segura para guardar alterações</a:t>
            </a:r>
          </a:p>
          <a:p>
            <a:pPr marL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stash</a:t>
            </a:r>
            <a:r>
              <a:rPr lang="pt-BR" sz="1600" dirty="0">
                <a:ea typeface="+mn-lt"/>
                <a:cs typeface="+mn-lt"/>
              </a:rPr>
              <a:t>: Salva temporariamente todas as suas alterações (como se colocasse numa gaveta).</a:t>
            </a:r>
            <a:endParaRPr lang="pt-BR" sz="1600"/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r>
              <a:rPr lang="pt-BR" sz="1900"/>
              <a:t>Restaurar o arquivo ao estado original</a:t>
            </a:r>
            <a:endParaRPr lang="pt-BR" sz="1900" dirty="0"/>
          </a:p>
          <a:p>
            <a:pPr marL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checkout </a:t>
            </a:r>
            <a:r>
              <a:rPr lang="pt-BR" sz="1600" dirty="0" err="1">
                <a:latin typeface="Century Gothic"/>
              </a:rPr>
              <a:t>main</a:t>
            </a:r>
            <a:r>
              <a:rPr lang="pt-BR" sz="1600" dirty="0">
                <a:latin typeface="Century Gothic"/>
              </a:rPr>
              <a:t> -- arquivo.txt</a:t>
            </a:r>
            <a:r>
              <a:rPr lang="pt-BR" sz="1600" dirty="0">
                <a:ea typeface="+mn-lt"/>
                <a:cs typeface="+mn-lt"/>
              </a:rPr>
              <a:t>: Pega a versão do arquivo da </a:t>
            </a:r>
            <a:r>
              <a:rPr lang="pt-BR" sz="1600" dirty="0" err="1">
                <a:ea typeface="+mn-lt"/>
                <a:cs typeface="+mn-lt"/>
              </a:rPr>
              <a:t>branch</a:t>
            </a:r>
            <a:r>
              <a:rPr lang="pt-BR" sz="1600" dirty="0">
                <a:ea typeface="+mn-lt"/>
                <a:cs typeface="+mn-lt"/>
              </a:rPr>
              <a:t> principal e substitui a atual.</a:t>
            </a:r>
            <a:endParaRPr lang="pt-BR" sz="1600"/>
          </a:p>
          <a:p>
            <a:pPr marL="0" indent="0">
              <a:buNone/>
            </a:pPr>
            <a:endParaRPr lang="pt-BR" sz="26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6710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389B-2E4B-7951-1EC9-8555E821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97003-23D1-FE35-C4E9-8219AD89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pt-BR" dirty="0"/>
              <a:t>FLEURY, Cláudio A. </a:t>
            </a:r>
            <a:r>
              <a:rPr lang="pt-BR" i="1" dirty="0" err="1"/>
              <a:t>Git</a:t>
            </a:r>
            <a:r>
              <a:rPr lang="pt-BR" i="1" dirty="0"/>
              <a:t> – Olhando sob o capô</a:t>
            </a:r>
            <a:r>
              <a:rPr lang="pt-BR" dirty="0"/>
              <a:t>. </a:t>
            </a:r>
          </a:p>
          <a:p>
            <a:pPr>
              <a:buFont typeface=""/>
              <a:buChar char="•"/>
            </a:pPr>
            <a:r>
              <a:rPr lang="pt-BR"/>
              <a:t>FLEURY, Cláudio A. </a:t>
            </a:r>
            <a:r>
              <a:rPr lang="pt-BR" i="1"/>
              <a:t>Git.pdf</a:t>
            </a:r>
            <a:r>
              <a:rPr lang="pt-BR"/>
              <a:t>. </a:t>
            </a:r>
          </a:p>
          <a:p>
            <a:pPr>
              <a:buFont typeface=""/>
              <a:buChar char="•"/>
            </a:pPr>
            <a:r>
              <a:rPr lang="pt-BR" dirty="0"/>
              <a:t>HOSTINGER. </a:t>
            </a:r>
            <a:r>
              <a:rPr lang="pt-BR" i="1" dirty="0"/>
              <a:t>Comandos </a:t>
            </a:r>
            <a:r>
              <a:rPr lang="pt-BR" i="1" dirty="0" err="1"/>
              <a:t>Git</a:t>
            </a:r>
            <a:r>
              <a:rPr lang="pt-BR" dirty="0"/>
              <a:t>. Disponível em: https://www.hostinger.com/</a:t>
            </a:r>
            <a:r>
              <a:rPr lang="pt-BR" dirty="0" err="1"/>
              <a:t>br</a:t>
            </a:r>
            <a:r>
              <a:rPr lang="pt-BR" dirty="0"/>
              <a:t>/tutoriais/comandos. </a:t>
            </a:r>
            <a:endParaRPr lang="pt-BR" b="1" dirty="0"/>
          </a:p>
          <a:p>
            <a:pPr>
              <a:buFont typeface=""/>
              <a:buChar char="•"/>
            </a:pPr>
            <a:r>
              <a:rPr lang="pt-BR"/>
              <a:t>Acesso em: 27 abr. 2026</a:t>
            </a:r>
          </a:p>
          <a:p>
            <a:pPr>
              <a:buFont typeface=""/>
              <a:buChar char="•"/>
            </a:pPr>
            <a:r>
              <a:rPr lang="pt-BR">
                <a:ea typeface="+mn-lt"/>
                <a:cs typeface="+mn-lt"/>
              </a:rPr>
              <a:t>Apoio de ferramentas de IA: ChatGPT e Gemini.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6290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10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Wisp</vt:lpstr>
      <vt:lpstr>Apresentação do GIT</vt:lpstr>
      <vt:lpstr>Considere um problema</vt:lpstr>
      <vt:lpstr>Vamos Pensar</vt:lpstr>
      <vt:lpstr>O que é o GIT</vt:lpstr>
      <vt:lpstr>Propósito de desenvolvimento</vt:lpstr>
      <vt:lpstr>Componentes Importantes</vt:lpstr>
      <vt:lpstr>Vantagens e Desvantagens</vt:lpstr>
      <vt:lpstr>Vantagens e Desvantagens</vt:lpstr>
      <vt:lpstr>Alguns comandos </vt:lpstr>
      <vt:lpstr>Alguns comandos </vt:lpstr>
      <vt:lpstr>Alguns comandos </vt:lpstr>
      <vt:lpstr>GITHUB</vt:lpstr>
      <vt:lpstr>Exemplo prático</vt:lpstr>
      <vt:lpstr>Exemplo prático</vt:lpstr>
      <vt:lpstr>Exemplo prático</vt:lpstr>
      <vt:lpstr>O que foi feito</vt:lpstr>
      <vt:lpstr>Outros exemplos</vt:lpstr>
      <vt:lpstr>Outros exemplos</vt:lpstr>
      <vt:lpstr>Outros exemplos</vt:lpstr>
      <vt:lpstr>Outros exemplos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1111</cp:revision>
  <dcterms:created xsi:type="dcterms:W3CDTF">2026-04-24T17:22:14Z</dcterms:created>
  <dcterms:modified xsi:type="dcterms:W3CDTF">2026-04-28T15:42:32Z</dcterms:modified>
</cp:coreProperties>
</file>